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</c:v>
                </c:pt>
              </c:strCache>
            </c:strRef>
          </c:tx>
          <c:dPt>
            <c:idx val="0"/>
            <c:spPr>
              <a:solidFill>
                <a:srgbClr val="F9423A"/>
              </a:solidFill>
              <a:ln>
                <a:noFill/>
              </a:ln>
            </c:spPr>
          </c:dPt>
          <c:dPt>
            <c:idx val="1"/>
            <c:spPr>
              <a:solidFill>
                <a:srgbClr val="F9423A"/>
              </a:solidFill>
              <a:ln>
                <a:noFill/>
              </a:ln>
            </c:spPr>
          </c:dPt>
          <c:dPt>
            <c:idx val="2"/>
            <c:spPr>
              <a:solidFill>
                <a:srgbClr val="2F5FA8"/>
              </a:solidFill>
              <a:ln>
                <a:noFill/>
              </a:ln>
            </c:spPr>
          </c:dPt>
          <c:dPt>
            <c:idx val="3"/>
            <c:spPr>
              <a:solidFill>
                <a:srgbClr val="2F5FA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JSON</c:v>
                </c:pt>
                <c:pt idx="1">
                  <c:v>Python list</c:v>
                </c:pt>
                <c:pt idx="2">
                  <c:v>NumPy</c:v>
                </c:pt>
                <c:pt idx="3">
                  <c:v>Arrow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6035.6</c:v>
                </c:pt>
                <c:pt idx="1">
                  <c:v>461.0</c:v>
                </c:pt>
                <c:pt idx="2">
                  <c:v>6.42</c:v>
                </c:pt>
                <c:pt idx="3">
                  <c:v>3.49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400" b="1">
                  <a:solidFill>
                    <a:srgbClr val="1D1D1B"/>
                  </a:solidFill>
                  <a:latin typeface="Outfi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C6C6"/>
            </a:solidFill>
          </a:ln>
        </c:spPr>
        <c:txPr>
          <a:bodyPr/>
          <a:lstStyle/>
          <a:p>
            <a:pPr>
              <a:defRPr sz="2200">
                <a:solidFill>
                  <a:srgbClr val="4A4A48"/>
                </a:solidFill>
                <a:latin typeface="Outfi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</c:scaling>
        <c:delete val="0"/>
        <c:axPos val="l"/>
        <c:majorGridlines>
          <c:spPr>
            <a:ln w="9525">
              <a:solidFill>
                <a:srgbClr val="DFDF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6C6C6"/>
            </a:solidFill>
          </a:ln>
        </c:spPr>
        <c:txPr>
          <a:bodyPr/>
          <a:lstStyle/>
          <a:p>
            <a:pPr>
              <a:defRPr sz="2200">
                <a:solidFill>
                  <a:srgbClr val="4A4A48"/>
                </a:solidFill>
                <a:latin typeface="Outfi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Outfi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</c:v>
                </c:pt>
              </c:strCache>
            </c:strRef>
          </c:tx>
          <c:dPt>
            <c:idx val="0"/>
            <c:spPr>
              <a:solidFill>
                <a:srgbClr val="F9423A"/>
              </a:solidFill>
              <a:ln>
                <a:noFill/>
              </a:ln>
            </c:spPr>
          </c:dPt>
          <c:dPt>
            <c:idx val="1"/>
            <c:spPr>
              <a:solidFill>
                <a:srgbClr val="F9423A"/>
              </a:solidFill>
              <a:ln>
                <a:noFill/>
              </a:ln>
            </c:spPr>
          </c:dPt>
          <c:dPt>
            <c:idx val="2"/>
            <c:spPr>
              <a:solidFill>
                <a:srgbClr val="2F5FA8"/>
              </a:solidFill>
              <a:ln>
                <a:noFill/>
              </a:ln>
            </c:spPr>
          </c:dPt>
          <c:dPt>
            <c:idx val="3"/>
            <c:spPr>
              <a:solidFill>
                <a:srgbClr val="2F5FA8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JSON</c:v>
                </c:pt>
                <c:pt idx="1">
                  <c:v>Python list</c:v>
                </c:pt>
                <c:pt idx="2">
                  <c:v>NumPy</c:v>
                </c:pt>
                <c:pt idx="3">
                  <c:v>Arrow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287.9</c:v>
                </c:pt>
                <c:pt idx="1">
                  <c:v>228.7</c:v>
                </c:pt>
                <c:pt idx="2">
                  <c:v>0.1</c:v>
                </c:pt>
                <c:pt idx="3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2400" b="1">
                  <a:solidFill>
                    <a:srgbClr val="1D1D1B"/>
                  </a:solidFill>
                  <a:latin typeface="Outfi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C6C6"/>
            </a:solidFill>
          </a:ln>
        </c:spPr>
        <c:txPr>
          <a:bodyPr/>
          <a:lstStyle/>
          <a:p>
            <a:pPr>
              <a:defRPr sz="2200">
                <a:solidFill>
                  <a:srgbClr val="4A4A48"/>
                </a:solidFill>
                <a:latin typeface="Outfi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FDF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6C6C6"/>
            </a:solidFill>
          </a:ln>
        </c:spPr>
        <c:txPr>
          <a:bodyPr/>
          <a:lstStyle/>
          <a:p>
            <a:pPr>
              <a:defRPr sz="2200">
                <a:solidFill>
                  <a:srgbClr val="4A4A48"/>
                </a:solidFill>
                <a:latin typeface="Outfi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Outfi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JSON</c:v>
                </c:pt>
              </c:strCache>
            </c:strRef>
          </c:tx>
          <c:spPr>
            <a:ln w="34925">
              <a:solidFill>
                <a:srgbClr val="F9423A"/>
              </a:solidFill>
              <a:prstDash val="solid"/>
            </a:ln>
          </c:spPr>
          <c:marker>
            <c:symbol val="circle"/>
            <c:size val="9"/>
            <c:spPr>
              <a:solidFill>
                <a:srgbClr val="F9423A"/>
              </a:solidFill>
              <a:ln w="19050"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10,000</c:v>
                </c:pt>
                <c:pt idx="1">
                  <c:v>100,000</c:v>
                </c:pt>
                <c:pt idx="2">
                  <c:v>1,000,000</c:v>
                </c:pt>
                <c:pt idx="3">
                  <c:v>10,000,000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0.505</c:v>
                </c:pt>
                <c:pt idx="1">
                  <c:v>5.1</c:v>
                </c:pt>
                <c:pt idx="2">
                  <c:v>47.421</c:v>
                </c:pt>
                <c:pt idx="3">
                  <c:v>533.104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Arrow</c:v>
                </c:pt>
              </c:strCache>
            </c:strRef>
          </c:tx>
          <c:spPr>
            <a:ln w="34925">
              <a:solidFill>
                <a:srgbClr val="2F5FA8"/>
              </a:solidFill>
              <a:prstDash val="solid"/>
            </a:ln>
          </c:spPr>
          <c:marker>
            <c:symbol val="square"/>
            <c:size val="9"/>
            <c:spPr>
              <a:solidFill>
                <a:srgbClr val="2F5FA8"/>
              </a:solidFill>
              <a:ln w="19050"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10,000</c:v>
                </c:pt>
                <c:pt idx="1">
                  <c:v>100,000</c:v>
                </c:pt>
                <c:pt idx="2">
                  <c:v>1,000,000</c:v>
                </c:pt>
                <c:pt idx="3">
                  <c:v>10,000,000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0.051</c:v>
                </c:pt>
                <c:pt idx="1">
                  <c:v>0.131</c:v>
                </c:pt>
                <c:pt idx="2">
                  <c:v>0.679</c:v>
                </c:pt>
                <c:pt idx="3">
                  <c:v>6.303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NumPy</c:v>
                </c:pt>
              </c:strCache>
            </c:strRef>
          </c:tx>
          <c:spPr>
            <a:ln w="34925">
              <a:solidFill>
                <a:srgbClr val="00895E"/>
              </a:solidFill>
              <a:prstDash val="dash"/>
            </a:ln>
          </c:spPr>
          <c:marker>
            <c:symbol val="diamond"/>
            <c:size val="9"/>
            <c:spPr>
              <a:solidFill>
                <a:srgbClr val="00895E"/>
              </a:solidFill>
              <a:ln w="19050"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10,000</c:v>
                </c:pt>
                <c:pt idx="1">
                  <c:v>100,000</c:v>
                </c:pt>
                <c:pt idx="2">
                  <c:v>1,000,000</c:v>
                </c:pt>
                <c:pt idx="3">
                  <c:v>10,000,000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</c:v>
                </c:pt>
                <c:pt idx="1">
                  <c:v>0.218</c:v>
                </c:pt>
                <c:pt idx="2">
                  <c:v>1.29</c:v>
                </c:pt>
                <c:pt idx="3">
                  <c:v>12.094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Python list</c:v>
                </c:pt>
              </c:strCache>
            </c:strRef>
          </c:tx>
          <c:spPr>
            <a:ln w="34925">
              <a:solidFill>
                <a:srgbClr val="C66A00"/>
              </a:solidFill>
              <a:prstDash val="sysDot"/>
            </a:ln>
          </c:spPr>
          <c:marker>
            <c:symbol val="triangle"/>
            <c:size val="9"/>
            <c:spPr>
              <a:solidFill>
                <a:srgbClr val="C66A00"/>
              </a:solidFill>
              <a:ln w="19050"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10,000</c:v>
                </c:pt>
                <c:pt idx="1">
                  <c:v>100,000</c:v>
                </c:pt>
                <c:pt idx="2">
                  <c:v>1,000,000</c:v>
                </c:pt>
                <c:pt idx="3">
                  <c:v>10,000,000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0.124</c:v>
                </c:pt>
                <c:pt idx="1">
                  <c:v>1.069</c:v>
                </c:pt>
                <c:pt idx="2">
                  <c:v>9.714</c:v>
                </c:pt>
                <c:pt idx="3">
                  <c:v>163.361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6C6C6"/>
            </a:solidFill>
          </a:ln>
        </c:spPr>
        <c:txPr>
          <a:bodyPr/>
          <a:lstStyle/>
          <a:p>
            <a:pPr>
              <a:defRPr sz="2200">
                <a:solidFill>
                  <a:srgbClr val="4A4A48"/>
                </a:solidFill>
                <a:latin typeface="Outfi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 w="9525">
              <a:solidFill>
                <a:srgbClr val="DFDF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6C6C6"/>
            </a:solidFill>
          </a:ln>
        </c:spPr>
        <c:txPr>
          <a:bodyPr/>
          <a:lstStyle/>
          <a:p>
            <a:pPr>
              <a:defRPr sz="2200">
                <a:solidFill>
                  <a:srgbClr val="4A4A48"/>
                </a:solidFill>
                <a:latin typeface="Outfit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2200">
              <a:solidFill>
                <a:srgbClr val="4A4A48"/>
              </a:solidFill>
              <a:latin typeface="Outfi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Outfi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[0:00] Hi, I'm Allen. In 35 minutes: how to move millions of rows between Python and Rust without copying a byte. Everything is measured on this laptop; the repo link is on screen now and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Name the file out loud — sensors.parquet, five million rows. We come back to it all talk. Pause before the last line. If this is genuinely your story, say 'this happened to me' instead of 'you' — first person is much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[1:45] The computation was never the bottleneck. Say it,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[2:15] Four parts. Part 3 is the heart. Part 4 is what I wish someone had told me. Intermediate level: I assume you've seen Python and know roughly what Rust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[3:30] Part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[4:00] PyO3 in one slide. Three annotations: pyfunction marks the function, pymodule marks the entry point, add_function registers it. Read the two fn lines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[5:00] Build it and call it. Works, and it's fast. Then the punchline at the bottom — set up the rest of the talk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[5:45] This is what everyone writes first. Vec&lt;f64&gt; looks free. Say clearly: it takes a Python list and returns a float.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[6:45] Measured here: 40.0 MB of float64. Read the three numbers aloud left to right. The addition itself is a few milliseconds — none of this is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[7:45] Describe the diagram out loud: on the left, a list of pointers to boxed objects scattered across the heap. On the right, one contiguous block of raw float64. Then the 24-bytes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[9:00] Part two — the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[9:20] This migrates in from microservices, where it made sense. In-process it makes none — but I have seen it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[10:20] Six seconds. Let it land. Then the breakdown: 5369 ms is json.dumps on the Python side, before Rust is even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[11:15] Part three. The core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[11:40] The reframe. Every approach so far asked 'how do I move this faster?' That is the wrong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[12:10] DEMO MOMENT, and the punchline up front. Run it live if the room allows; these are the saved numbers as the fallback. Say: same address on both sides — not a fast copy, the same memory. Then: 'that is the trick. The rest of this part is how it works.'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[13:20] Key framing: Arrow is a specification, not a library. That is exactly why it bridges languages. Define the acronym: Arrow is a columnar in-memory format from the Apache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[14:40] Describe the diagram aloud: a float64 column is exactly two flat buffers — a validity bitmap on top, the values below. Point out that nulls keep their slot, so element i is always at offset i times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[16:00] The mechanism. A PyCapsule carrying this small C struct. Neither side needs the other's Arrow library — they agree on the struct. Read the buffers line aloud: that is the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[17:10] Any object exposing this dunder can be handed to Rust. Name the ecosystem — this is why it is not a pyarrow-only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[18:00] The Rust side. PyArray implements FromPyObject, so PyO3 calls the capsule protocol for you. into_inner is the zero-copy step. sum is null-aware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[19:00] Call back to slide 2: this is sensors.parquet, the file we started with. The Python side is anticlimactic — you just pass the array. Parquet to Arrow to Rust, no conversion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[20:30] The headline. Say 'log scale' out loud — otherwise the bars understate it. Read the four numbers. Colour groups the two strategies; the labels name each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[21:40] Two numbers to remember from this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[22:30] Time is half the story. This is extra peak memory on top of holding the data, one fresh process per approach. Arrow's half a megabyte is Rust's bookkeeping, not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[23:30] The slope matters more than any single number. Copying is linear in rows; sharing is flat — the handoff is constant time. Each line has its own dash and marker, so say the names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[24:40] Fair question: NumPy was already zero-copy and nearly as fast. This slide is the answer — the buffer protocol only carries numbers. Read a couple of rows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[25:50] A workload NumPy cannot carry at all. 11× on strings, and the list version is the only alternative.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[26:50] Two things you get for free. Nulls: the validity bitmap travels with the buffer, so Rust's kernels skip them. Say the expected output: 1 plus 3 plus 6 is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[27:40] And whole tables, with the schema. Output is rows then columns: four rows, two columns. This is what serialization can never give you cheaply.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[28:30] Part four — the things that cost 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[28:50] This one bit me building the demo for this talk. Tell it as a story — it lands better than a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[29:50] Back to sensors.parquet one more time. A Table column is chunked; the C Data Interface hands over one contiguous array. So combine_chunks copies — do it once, not per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[30:50] Ownership. The capsule keeps the buffer alive only while Rust holds the array — never stash a raw pointer. And release the GIL for long compute, or you gain nothing in a threaded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[31:50] Be honest — it buys credibility. At ten thousand rows the whole difference is a tenth of a millisecond. Nobody should rewrite anything for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[32:40] Practical toolbox. The pointer check is the one I use most — it turns 'I think this is zero copy' into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[33:30] You are not inventing this. Name them quickly — the point is that Arrow is already the substrate under tools they use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[34:10] Three things. If they remember nothing else.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[35:00] Thank you. Repo on screen. Take questions — repeat each question into the mic before answering. Likely ones: free-threading and the GIL; why not just use Polars; Arrow IPC vs the C Data Interface for cross-process.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600200"/>
            <a:ext cx="1737360" cy="635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7772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5000" b="1">
                <a:solidFill>
                  <a:srgbClr val="1D1D1B"/>
                </a:solidFill>
                <a:latin typeface="Outfit"/>
              </a:rPr>
              <a:t>Zero-Copy Data Sharing
Between Python and Rust</a:t>
            </a:r>
          </a:p>
        </p:txBody>
      </p:sp>
      <p:pic>
        <p:nvPicPr>
          <p:cNvPr id="4" name="Picture 3" descr="Photograph of the speaker, Allen 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57400"/>
            <a:ext cx="2423160" cy="2423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61188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with </a:t>
            </a:r>
            <a:r>
              <a:rPr sz="2800" b="1">
                <a:solidFill>
                  <a:srgbClr val="CC6600"/>
                </a:solidFill>
                <a:latin typeface="Outfit"/>
              </a:rPr>
              <a:t>PyO3</a:t>
            </a:r>
            <a:r>
              <a:rPr sz="2800" b="0">
                <a:solidFill>
                  <a:srgbClr val="4A4A48"/>
                </a:solidFill>
                <a:latin typeface="Outfit"/>
              </a:rPr>
              <a:t> and </a:t>
            </a:r>
            <a:r>
              <a:rPr sz="2800" b="1">
                <a:solidFill>
                  <a:srgbClr val="CC6600"/>
                </a:solidFill>
                <a:latin typeface="Outfit"/>
              </a:rPr>
              <a:t>Apache Arrow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43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1D1D1B"/>
                </a:solidFill>
                <a:latin typeface="Outfit"/>
              </a:rPr>
              <a:t>Allen Y</a:t>
            </a:r>
            <a:r>
              <a:rPr sz="2400" b="0">
                <a:solidFill>
                  <a:srgbClr val="4A4A48"/>
                </a:solidFill>
                <a:latin typeface="Outfit"/>
              </a:rPr>
              <a:t>  ·  Associate Software Engineer, Red Hat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PyCon ES 2026  ·  8 Nov  ·  Aula B7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Slides and code:  </a:t>
            </a:r>
            <a:r>
              <a:rPr sz="2400" b="1">
                <a:solidFill>
                  <a:srgbClr val="CC6600"/>
                </a:solidFill>
                <a:latin typeface="Outfit"/>
              </a:rPr>
              <a:t>github.com/&lt;your-handle&gt;/pycones26-arrow-pyo3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A story you may recognise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43032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0"/>
              </a:spcAft>
            </a:pPr>
            <a:r>
              <a:rPr sz="2800" b="1">
                <a:solidFill>
                  <a:srgbClr val="CC6600"/>
                </a:solidFill>
                <a:latin typeface="Outfit"/>
              </a:rPr>
              <a:t>sensors.parquet</a:t>
            </a:r>
            <a:r>
              <a:rPr sz="2800" b="1">
                <a:solidFill>
                  <a:srgbClr val="1D1D1B"/>
                </a:solidFill>
                <a:latin typeface="Outfit"/>
              </a:rPr>
              <a:t> — 5 million readings.</a:t>
            </a:r>
          </a:p>
          <a:p>
            <a:pPr algn="l">
              <a:lnSpc>
                <a:spcPct val="140000"/>
              </a:lnSpc>
              <a:spcAft>
                <a:spcPts val="2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Summing one column in Python is too slow,</a:t>
            </a:r>
          </a:p>
          <a:p>
            <a:pPr algn="l">
              <a:lnSpc>
                <a:spcPct val="140000"/>
              </a:lnSpc>
              <a:spcAft>
                <a:spcPts val="2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so you move it to Rust: </a:t>
            </a:r>
            <a:r>
              <a:rPr sz="2800" b="1">
                <a:solidFill>
                  <a:srgbClr val="006E4B"/>
                </a:solidFill>
                <a:latin typeface="Outfit"/>
              </a:rPr>
              <a:t>40× faster</a:t>
            </a:r>
            <a:r>
              <a:rPr sz="2800" b="0">
                <a:solidFill>
                  <a:srgbClr val="4A4A48"/>
                </a:solidFill>
                <a:latin typeface="Outfit"/>
              </a:rPr>
              <a:t> in isolation.</a:t>
            </a:r>
          </a:p>
          <a:p>
            <a:pPr algn="l">
              <a:lnSpc>
                <a:spcPct val="140000"/>
              </a:lnSpc>
              <a:spcAft>
                <a:spcPts val="2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End to end, the pipeline is </a:t>
            </a:r>
            <a:r>
              <a:rPr sz="2800" b="1">
                <a:solidFill>
                  <a:srgbClr val="C41E17"/>
                </a:solidFill>
                <a:latin typeface="Outfit"/>
              </a:rPr>
              <a:t>slower than before</a:t>
            </a:r>
            <a:r>
              <a:rPr sz="2800" b="0">
                <a:solidFill>
                  <a:srgbClr val="4A4A48"/>
                </a:solidFill>
                <a:latin typeface="Outfi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500" b="1">
                <a:solidFill>
                  <a:srgbClr val="F9423A"/>
                </a:solidFill>
                <a:latin typeface="Outfit"/>
              </a:rPr>
              <a:t>The border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was the bottleneck — not the computation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Where we're going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15568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5623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1D1D1B"/>
                </a:solidFill>
                <a:latin typeface="Outfit"/>
              </a:rPr>
              <a:t>The naive bridge — PyO3, and what it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86207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1D1D1B"/>
                </a:solidFill>
                <a:latin typeface="Outfit"/>
              </a:rPr>
              <a:t>The serialization trap — “just use JSON”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86791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1D1D1B"/>
                </a:solidFill>
                <a:latin typeface="Outfit"/>
              </a:rPr>
              <a:t>Arrow as shared memory — zero copies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005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873752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1D1D1B"/>
                </a:solidFill>
                <a:latin typeface="Outfit"/>
              </a:rPr>
              <a:t>Pitfalls and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600" b="1">
                <a:solidFill>
                  <a:srgbClr val="CC6600"/>
                </a:solidFill>
                <a:latin typeface="Outfi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400" b="1">
                <a:solidFill>
                  <a:srgbClr val="1D1D1B"/>
                </a:solidFill>
                <a:latin typeface="Outfit"/>
              </a:rPr>
              <a:t>The naive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PyO3, and what it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01 · THE NAIVE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PyO3: a native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#[pyfunction] / fn add(a: i64, b: i64) -&gt; i64 { a + b } / "/>
          <p:cNvSpPr/>
          <p:nvPr/>
        </p:nvSpPr>
        <p:spPr>
          <a:xfrm>
            <a:off x="822960" y="1691640"/>
            <a:ext cx="10543032" cy="376428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3489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#[pyfunction]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fn</a:t>
            </a:r>
            <a:r>
              <a:rPr sz="2400">
                <a:solidFill>
                  <a:srgbClr val="1D1D1B"/>
                </a:solidFill>
                <a:latin typeface="JetBrains Mono"/>
              </a:rPr>
              <a:t> add(a: i64, b: i64) -&gt; i64 { a + b }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#[pymodule]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fn</a:t>
            </a:r>
            <a:r>
              <a:rPr sz="2400">
                <a:solidFill>
                  <a:srgbClr val="1D1D1B"/>
                </a:solidFill>
                <a:latin typeface="JetBrains Mono"/>
              </a:rPr>
              <a:t> demo(m: &amp;Bound&lt;PyModule&gt;) -&gt; PyResult&lt;()&gt; 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m.add_function(wrap_pyfunction!(add, m)?)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3024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Three annotations. That is the whole bridge.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01 · THE NAIVE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Build it, call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$ maturin develop --release /  / &gt;&gt;&gt; import demo"/>
          <p:cNvSpPr/>
          <p:nvPr/>
        </p:nvSpPr>
        <p:spPr>
          <a:xfrm>
            <a:off x="822960" y="1691640"/>
            <a:ext cx="10543032" cy="28194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2545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$ </a:t>
            </a:r>
            <a:r>
              <a:rPr sz="2400">
                <a:solidFill>
                  <a:srgbClr val="2F5FA8"/>
                </a:solidFill>
                <a:latin typeface="JetBrains Mono"/>
              </a:rPr>
              <a:t>maturin</a:t>
            </a:r>
            <a:r>
              <a:rPr sz="2400">
                <a:solidFill>
                  <a:srgbClr val="1D1D1B"/>
                </a:solidFill>
                <a:latin typeface="JetBrains Mono"/>
              </a:rPr>
              <a:t> develop --release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import demo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demo.add(</a:t>
            </a:r>
            <a:r>
              <a:rPr sz="2400">
                <a:solidFill>
                  <a:srgbClr val="C66A00"/>
                </a:solidFill>
                <a:latin typeface="JetBrains Mono"/>
              </a:rPr>
              <a:t>2</a:t>
            </a:r>
            <a:r>
              <a:rPr sz="2400">
                <a:solidFill>
                  <a:srgbClr val="1D1D1B"/>
                </a:solidFill>
                <a:latin typeface="JetBrains Mono"/>
              </a:rPr>
              <a:t>, </a:t>
            </a:r>
            <a:r>
              <a:rPr sz="2400">
                <a:solidFill>
                  <a:srgbClr val="C66A00"/>
                </a:solidFill>
                <a:latin typeface="JetBrains Mono"/>
              </a:rPr>
              <a:t>3</a:t>
            </a:r>
            <a:r>
              <a:rPr sz="2400">
                <a:solidFill>
                  <a:srgbClr val="1D1D1B"/>
                </a:solidFill>
                <a:latin typeface="JetBrains Mono"/>
              </a:rPr>
              <a:t>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C66A00"/>
                </a:solidFill>
                <a:latin typeface="JetBrains Mono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7680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3200" b="1">
                <a:solidFill>
                  <a:srgbClr val="1D1D1B"/>
                </a:solidFill>
                <a:latin typeface="Outfit"/>
              </a:rPr>
              <a:t>Scalars are easy.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Now pass five million of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01 · THE NAIVE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The obvious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#[pyfunction] / fn sum_list(values: Vec&lt;f64&gt;) -&gt; f64 { /     values.iter().sum()"/>
          <p:cNvSpPr/>
          <p:nvPr/>
        </p:nvSpPr>
        <p:spPr>
          <a:xfrm>
            <a:off x="822960" y="1691640"/>
            <a:ext cx="10543032" cy="234696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2072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#[pyfunction]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fn</a:t>
            </a:r>
            <a:r>
              <a:rPr sz="2400">
                <a:solidFill>
                  <a:srgbClr val="1D1D1B"/>
                </a:solidFill>
                <a:latin typeface="JetBrains Mono"/>
              </a:rPr>
              <a:t> sum_list(values: Vec&lt;f64&gt;) -&gt; f64 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values.iter().sum()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}</a:t>
            </a:r>
          </a:p>
        </p:txBody>
      </p:sp>
      <p:sp>
        <p:nvSpPr>
          <p:cNvPr id="9" name="Rounded Rectangle 8" descr="Code listing: &gt;&gt;&gt; sum_list(data)    # data: 5,000,000 floats"/>
          <p:cNvSpPr/>
          <p:nvPr/>
        </p:nvSpPr>
        <p:spPr>
          <a:xfrm>
            <a:off x="822960" y="4358640"/>
            <a:ext cx="10543032" cy="92964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59808"/>
            <a:ext cx="9994392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sum_list(data)    </a:t>
            </a:r>
            <a:r>
              <a:rPr sz="2400">
                <a:solidFill>
                  <a:srgbClr val="6E6E6C"/>
                </a:solidFill>
                <a:latin typeface="JetBrains Mono"/>
              </a:rPr>
              <a:t># data: 5,000,000 floats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0832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It looks like a function call. It is a full copy.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01 ·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What that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19272" cy="16002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20240"/>
            <a:ext cx="2807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C66A00"/>
                </a:solidFill>
                <a:latin typeface="Outfit"/>
              </a:rPr>
              <a:t>461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78608"/>
            <a:ext cx="2807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Arrow → list → 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62656"/>
            <a:ext cx="2807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5,000,000 float64 · 40.0 MB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319272" cy="16002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20240"/>
            <a:ext cx="2807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4A4A48"/>
                </a:solidFill>
                <a:latin typeface="Outfit"/>
              </a:rPr>
              <a:t>397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578608"/>
            <a:ext cx="2807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of it: .to_pylist()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962656"/>
            <a:ext cx="2807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format conversion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319272" cy="16002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28072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4A4A48"/>
                </a:solidFill>
                <a:latin typeface="Outfit"/>
              </a:rPr>
              <a:t>83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578608"/>
            <a:ext cx="2807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of it: the PyO3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62656"/>
            <a:ext cx="28072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unboxing 5M PyFloats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5430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Not one byte of this is arithmetic.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Every element becomes a Python object, then gets unboxed again.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01 · THE NAIVE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Why a Python list is expensive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list[float] — boxed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868680" cy="502920"/>
          </a:xfrm>
          <a:prstGeom prst="roundRect">
            <a:avLst>
              <a:gd name="adj" fmla="val 5000"/>
            </a:avLst>
          </a:prstGeom>
          <a:solidFill>
            <a:srgbClr val="E8E8E5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ptr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868680" cy="566928"/>
          </a:xfrm>
          <a:prstGeom prst="roundRect">
            <a:avLst>
              <a:gd name="adj" fmla="val 5000"/>
            </a:avLst>
          </a:prstGeom>
          <a:solidFill>
            <a:srgbClr val="FFECD4"/>
          </a:solidFill>
          <a:ln w="9525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C6600"/>
                </a:solidFill>
                <a:latin typeface="Outfit"/>
              </a:rPr>
              <a:t>float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2103120"/>
            <a:ext cx="868680" cy="502920"/>
          </a:xfrm>
          <a:prstGeom prst="roundRect">
            <a:avLst>
              <a:gd name="adj" fmla="val 5000"/>
            </a:avLst>
          </a:prstGeom>
          <a:solidFill>
            <a:srgbClr val="E8E8E5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088" y="217627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2971800"/>
            <a:ext cx="868680" cy="566928"/>
          </a:xfrm>
          <a:prstGeom prst="roundRect">
            <a:avLst>
              <a:gd name="adj" fmla="val 5000"/>
            </a:avLst>
          </a:prstGeom>
          <a:solidFill>
            <a:srgbClr val="FFECD4"/>
          </a:solidFill>
          <a:ln w="9525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47088" y="308152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C6600"/>
                </a:solidFill>
                <a:latin typeface="Outfit"/>
              </a:rPr>
              <a:t>float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216" y="2103120"/>
            <a:ext cx="868680" cy="502920"/>
          </a:xfrm>
          <a:prstGeom prst="roundRect">
            <a:avLst>
              <a:gd name="adj" fmla="val 5000"/>
            </a:avLst>
          </a:prstGeom>
          <a:solidFill>
            <a:srgbClr val="E8E8E5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17627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1216" y="2971800"/>
            <a:ext cx="868680" cy="566928"/>
          </a:xfrm>
          <a:prstGeom prst="roundRect">
            <a:avLst>
              <a:gd name="adj" fmla="val 5000"/>
            </a:avLst>
          </a:prstGeom>
          <a:solidFill>
            <a:srgbClr val="FFECD4"/>
          </a:solidFill>
          <a:ln w="9525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308152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C6600"/>
                </a:solidFill>
                <a:latin typeface="Outfit"/>
              </a:rPr>
              <a:t>float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95344" y="2103120"/>
            <a:ext cx="868680" cy="502920"/>
          </a:xfrm>
          <a:prstGeom prst="roundRect">
            <a:avLst>
              <a:gd name="adj" fmla="val 5000"/>
            </a:avLst>
          </a:prstGeom>
          <a:solidFill>
            <a:srgbClr val="E8E8E5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5344" y="217627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ptr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95344" y="2971800"/>
            <a:ext cx="868680" cy="566928"/>
          </a:xfrm>
          <a:prstGeom prst="roundRect">
            <a:avLst>
              <a:gd name="adj" fmla="val 5000"/>
            </a:avLst>
          </a:prstGeom>
          <a:solidFill>
            <a:srgbClr val="FFECD4"/>
          </a:solidFill>
          <a:ln w="9525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5344" y="308152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C6600"/>
                </a:solidFill>
                <a:latin typeface="Outfit"/>
              </a:rPr>
              <a:t>float</a:t>
            </a:r>
          </a:p>
        </p:txBody>
      </p:sp>
      <p:sp>
        <p:nvSpPr>
          <p:cNvPr id="24" name="Rounded Rectangle 23" descr="Diagram: a Python list is an array of pointers, each pointing to a separately allocated float object elsewhere on the heap."/>
          <p:cNvSpPr/>
          <p:nvPr/>
        </p:nvSpPr>
        <p:spPr>
          <a:xfrm>
            <a:off x="4919472" y="2103120"/>
            <a:ext cx="868680" cy="502920"/>
          </a:xfrm>
          <a:prstGeom prst="roundRect">
            <a:avLst>
              <a:gd name="adj" fmla="val 5000"/>
            </a:avLst>
          </a:prstGeom>
          <a:solidFill>
            <a:srgbClr val="E8E8E5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9472" y="2176272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ptr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9472" y="2971800"/>
            <a:ext cx="868680" cy="566928"/>
          </a:xfrm>
          <a:prstGeom prst="roundRect">
            <a:avLst>
              <a:gd name="adj" fmla="val 5000"/>
            </a:avLst>
          </a:prstGeom>
          <a:solidFill>
            <a:srgbClr val="FFECD4"/>
          </a:solidFill>
          <a:ln w="9525">
            <a:solidFill>
              <a:srgbClr val="CC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3081528"/>
            <a:ext cx="868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CC6600"/>
                </a:solidFill>
                <a:latin typeface="Outfit"/>
              </a:rPr>
              <a:t>float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21284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6E6E6C"/>
                </a:solidFill>
                <a:latin typeface="Outfit"/>
              </a:rPr>
              <a:t>vs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1645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Arrow — one buffer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2103120"/>
            <a:ext cx="731520" cy="50292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66176" y="2103120"/>
            <a:ext cx="731520" cy="50292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34272" y="2103120"/>
            <a:ext cx="731520" cy="50292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02368" y="2103120"/>
            <a:ext cx="731520" cy="50292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 descr="Diagram: Arrow stores the same values as one contiguous block of raw 8-byte floats, with no per-value object."/>
          <p:cNvSpPr/>
          <p:nvPr/>
        </p:nvSpPr>
        <p:spPr>
          <a:xfrm>
            <a:off x="10570464" y="2103120"/>
            <a:ext cx="731520" cy="50292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274320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contiguous, cache-friendly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977639"/>
            <a:ext cx="105430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24 bytes of object header per 8 bytes of payload.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Pointer chasing defeats the cache — the CPU waits on memory.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600" b="1">
                <a:solidFill>
                  <a:srgbClr val="CC6600"/>
                </a:solidFill>
                <a:latin typeface="Outfi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400" b="1">
                <a:solidFill>
                  <a:srgbClr val="1D1D1B"/>
                </a:solidFill>
                <a:latin typeface="Outfit"/>
              </a:rPr>
              <a:t>The serialization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“just send it as JSON”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02 · THE SERIALIZATION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The microservices habit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#[pyfunction] / fn sum_json(payload: &amp;str) -&gt; PyResult&lt;f64&gt; { /     let v: Vec&lt;f64&gt; = serde_json::from_str(payload)?;"/>
          <p:cNvSpPr/>
          <p:nvPr/>
        </p:nvSpPr>
        <p:spPr>
          <a:xfrm>
            <a:off x="822960" y="1691640"/>
            <a:ext cx="10543032" cy="28194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2545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#[pyfunction]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fn</a:t>
            </a:r>
            <a:r>
              <a:rPr sz="2400">
                <a:solidFill>
                  <a:srgbClr val="1D1D1B"/>
                </a:solidFill>
                <a:latin typeface="JetBrains Mono"/>
              </a:rPr>
              <a:t> sum_json(payload: &amp;str) -&gt; PyResult&lt;f64&gt; 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</a:t>
            </a:r>
            <a:r>
              <a:rPr sz="2400">
                <a:solidFill>
                  <a:srgbClr val="2F5FA8"/>
                </a:solidFill>
                <a:latin typeface="JetBrains Mono"/>
              </a:rPr>
              <a:t>let</a:t>
            </a:r>
            <a:r>
              <a:rPr sz="2400">
                <a:solidFill>
                  <a:srgbClr val="1D1D1B"/>
                </a:solidFill>
                <a:latin typeface="JetBrains Mono"/>
              </a:rPr>
              <a:t> v: Vec&lt;f64&gt; = serde_json::from_str(payload)?;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</a:t>
            </a:r>
            <a:r>
              <a:rPr sz="2400">
                <a:solidFill>
                  <a:srgbClr val="2F5FA8"/>
                </a:solidFill>
                <a:latin typeface="JetBrains Mono"/>
              </a:rPr>
              <a:t>Ok</a:t>
            </a:r>
            <a:r>
              <a:rPr sz="2400">
                <a:solidFill>
                  <a:srgbClr val="1D1D1B"/>
                </a:solidFill>
                <a:latin typeface="JetBrains Mono"/>
              </a:rPr>
              <a:t>(v.iter().sum())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7680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40.0 MB of float64 becomes a 101.3 MB string.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Then it is parsed back into floats.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02 ·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What that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500" b="1">
                <a:solidFill>
                  <a:srgbClr val="C41E17"/>
                </a:solidFill>
                <a:latin typeface="Outfit"/>
              </a:rPr>
              <a:t>6.0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to sum five million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5369 ms in json.dumps   ·   281 ms parsing in Rust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600" b="1">
                <a:solidFill>
                  <a:srgbClr val="CC6600"/>
                </a:solidFill>
                <a:latin typeface="Outfi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400" b="1">
                <a:solidFill>
                  <a:srgbClr val="1D1D1B"/>
                </a:solidFill>
                <a:latin typeface="Outfit"/>
              </a:rPr>
              <a:t>Arrow as shared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stop moving data; share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4303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1500" b="1">
                <a:solidFill>
                  <a:srgbClr val="2F5FA8"/>
                </a:solidFill>
                <a:latin typeface="Outfit"/>
              </a:rPr>
              <a:t>Don't move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Both languages can point at the same bytes.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Proof: the same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&gt;&gt;&gt; arr.buffers()[1].address / 990584432 / &gt;&gt;&gt; arrowbridge.arrow_data_ptr(arr)"/>
          <p:cNvSpPr/>
          <p:nvPr/>
        </p:nvSpPr>
        <p:spPr>
          <a:xfrm>
            <a:off x="822960" y="1645920"/>
            <a:ext cx="10543032" cy="234696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9994392" cy="2072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arr.buffers()[</a:t>
            </a:r>
            <a:r>
              <a:rPr sz="2400">
                <a:solidFill>
                  <a:srgbClr val="C66A00"/>
                </a:solidFill>
                <a:latin typeface="JetBrains Mono"/>
              </a:rPr>
              <a:t>1</a:t>
            </a:r>
            <a:r>
              <a:rPr sz="2400">
                <a:solidFill>
                  <a:srgbClr val="1D1D1B"/>
                </a:solidFill>
                <a:latin typeface="JetBrains Mono"/>
              </a:rPr>
              <a:t>].address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C66A00"/>
                </a:solidFill>
                <a:latin typeface="JetBrains Mono"/>
              </a:rPr>
              <a:t>990584432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arrowbridge.arrow_data_ptr(arr)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C66A00"/>
                </a:solidFill>
                <a:latin typeface="JetBrains Mono"/>
              </a:rPr>
              <a:t>990584432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sz="3200" b="1">
                <a:solidFill>
                  <a:srgbClr val="006E4B"/>
                </a:solidFill>
                <a:latin typeface="Outfit"/>
              </a:rPr>
              <a:t>Identical.</a:t>
            </a:r>
            <a:r>
              <a:rPr sz="3200" b="0">
                <a:solidFill>
                  <a:srgbClr val="1D1D1B"/>
                </a:solidFill>
                <a:latin typeface="Outfit"/>
              </a:rPr>
              <a:t> Nothing was copied or serialized.</a:t>
            </a:r>
          </a:p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sz="3200" b="0">
                <a:solidFill>
                  <a:srgbClr val="4A4A48"/>
                </a:solidFill>
                <a:latin typeface="Outfit"/>
              </a:rPr>
              <a:t>How? That is the rest of this part.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Arrow is a memory layout, not a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01952"/>
            <a:ext cx="50800" cy="566928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Columnar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56232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one column, laid out contiguously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53512"/>
            <a:ext cx="50800" cy="566928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803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Specified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07792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the byte layout is the 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05072"/>
            <a:ext cx="50800" cy="566928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319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Language-neutral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959352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Rust, Python, C++, Java read the same bytes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056631"/>
            <a:ext cx="50800" cy="566928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98347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Null-aware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010911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 validity bitmap: one bit per value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A float64 column, completely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validity bitmap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2F5FA8"/>
                </a:solidFill>
                <a:latin typeface="JetBrains Mono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14884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25856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2F5FA8"/>
                </a:solidFill>
                <a:latin typeface="JetBrains Mono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14884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25856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6E6E6C"/>
                </a:solidFill>
                <a:latin typeface="JetBrains Mono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14884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25856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2F5FA8"/>
                </a:solidFill>
                <a:latin typeface="JetBrains Mono"/>
              </a:rPr>
              <a:t>1</a:t>
            </a:r>
          </a:p>
        </p:txBody>
      </p:sp>
      <p:sp>
        <p:nvSpPr>
          <p:cNvPr id="16" name="Rounded Rectangle 15" descr="Diagram: a validity bitmap of five bits, 1 1 0 1 1, where 0 marks a null."/>
          <p:cNvSpPr/>
          <p:nvPr/>
        </p:nvSpPr>
        <p:spPr>
          <a:xfrm>
            <a:off x="4480560" y="214884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25856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2F5FA8"/>
                </a:solidFill>
                <a:latin typeface="JetBrains Mon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values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47472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84448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JetBrains Mono"/>
              </a:rPr>
              <a:t>1.5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347472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584448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JetBrains Mono"/>
              </a:rPr>
              <a:t>2.0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347472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3584448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6E6E6C"/>
                </a:solidFill>
                <a:latin typeface="JetBrains Mono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47472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584448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JetBrains Mono"/>
              </a:rPr>
              <a:t>4.5</a:t>
            </a:r>
          </a:p>
        </p:txBody>
      </p:sp>
      <p:sp>
        <p:nvSpPr>
          <p:cNvPr id="27" name="Rounded Rectangle 26" descr="Diagram: the values buffer holds 1.5, 2.0, an unused slot, 4.5, 5.0 — the null keeps its position."/>
          <p:cNvSpPr/>
          <p:nvPr/>
        </p:nvSpPr>
        <p:spPr>
          <a:xfrm>
            <a:off x="4480560" y="3474720"/>
            <a:ext cx="777240" cy="548640"/>
          </a:xfrm>
          <a:prstGeom prst="roundRect">
            <a:avLst>
              <a:gd name="adj" fmla="val 5000"/>
            </a:avLst>
          </a:prstGeom>
          <a:solidFill>
            <a:srgbClr val="DDE6F5"/>
          </a:solidFill>
          <a:ln w="9525">
            <a:solidFill>
              <a:srgbClr val="2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584448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JetBrains Mono"/>
              </a:rPr>
              <a:t>5.0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10312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Two flat buffers.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No headers, no pointers,
no objects.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7200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2F5FA8"/>
                </a:solidFill>
                <a:latin typeface="Outfit"/>
              </a:rPr>
              <a:t>Sharing the column = handing over two pointers and a length.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The Arrow C Data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struct ArrowArray { /   int64_t length; /   const void** buffers;     // the pointers"/>
          <p:cNvSpPr/>
          <p:nvPr/>
        </p:nvSpPr>
        <p:spPr>
          <a:xfrm>
            <a:off x="822960" y="1627632"/>
            <a:ext cx="10543032" cy="28194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94392" cy="2545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struct</a:t>
            </a:r>
            <a:r>
              <a:rPr sz="2400">
                <a:solidFill>
                  <a:srgbClr val="1D1D1B"/>
                </a:solidFill>
                <a:latin typeface="JetBrains Mono"/>
              </a:rPr>
              <a:t> ArrowArray 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int64_t length;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</a:t>
            </a:r>
            <a:r>
              <a:rPr sz="2400">
                <a:solidFill>
                  <a:srgbClr val="2F5FA8"/>
                </a:solidFill>
                <a:latin typeface="JetBrains Mono"/>
              </a:rPr>
              <a:t>const</a:t>
            </a:r>
            <a:r>
              <a:rPr sz="2400">
                <a:solidFill>
                  <a:srgbClr val="1D1D1B"/>
                </a:solidFill>
                <a:latin typeface="JetBrains Mono"/>
              </a:rPr>
              <a:t> void** buffers;     </a:t>
            </a:r>
            <a:r>
              <a:rPr sz="2400">
                <a:solidFill>
                  <a:srgbClr val="6E6E6C"/>
                </a:solidFill>
                <a:latin typeface="JetBrains Mono"/>
              </a:rPr>
              <a:t>// the pointers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void (*release)(</a:t>
            </a:r>
            <a:r>
              <a:rPr sz="2400">
                <a:solidFill>
                  <a:srgbClr val="2F5FA8"/>
                </a:solidFill>
                <a:latin typeface="JetBrains Mono"/>
              </a:rPr>
              <a:t>struct</a:t>
            </a:r>
            <a:r>
              <a:rPr sz="2400">
                <a:solidFill>
                  <a:srgbClr val="1D1D1B"/>
                </a:solidFill>
                <a:latin typeface="JetBrains Mono"/>
              </a:rPr>
              <a:t> ArrowArray*);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67072"/>
            <a:ext cx="10543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The capsule transfers a pointer and ownership.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release() keeps the buffer alive while Rust reads.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One dunder, every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&gt;&gt;&gt; obj.__arrow_c_array__() / (&lt;PyCapsule schema&gt;, &lt;PyCapsule array&gt;)"/>
          <p:cNvSpPr/>
          <p:nvPr/>
        </p:nvSpPr>
        <p:spPr>
          <a:xfrm>
            <a:off x="822960" y="1691640"/>
            <a:ext cx="10543032" cy="140208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1127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obj.__arrow_c_array__()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(&lt;PyCapsule schema&gt;, &lt;PyCapsule array&gt;)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5200"/>
            <a:ext cx="1054303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2800" b="1">
                <a:solidFill>
                  <a:srgbClr val="2F5FA8"/>
                </a:solidFill>
                <a:latin typeface="Outfit"/>
              </a:rPr>
              <a:t>pyarrow · polars · pandas · duckdb · nanoarrow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all speak it, in both directions.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The Rust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#[pyfunction] / fn sum_arrow(arr: PyArray) -&gt; PyResult&lt;Option&lt;f64&gt;&gt; { /     let (arr, _f) = arr.into_inner();   // zero copy"/>
          <p:cNvSpPr/>
          <p:nvPr/>
        </p:nvSpPr>
        <p:spPr>
          <a:xfrm>
            <a:off x="822960" y="1691640"/>
            <a:ext cx="10543032" cy="376428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3489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#[pyfunction]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fn</a:t>
            </a:r>
            <a:r>
              <a:rPr sz="2400">
                <a:solidFill>
                  <a:srgbClr val="1D1D1B"/>
                </a:solidFill>
                <a:latin typeface="JetBrains Mono"/>
              </a:rPr>
              <a:t> sum_arrow(arr: PyArray) -&gt; PyResult&lt;Option&lt;f64&gt;&gt; 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</a:t>
            </a:r>
            <a:r>
              <a:rPr sz="2400">
                <a:solidFill>
                  <a:srgbClr val="2F5FA8"/>
                </a:solidFill>
                <a:latin typeface="JetBrains Mono"/>
              </a:rPr>
              <a:t>let</a:t>
            </a:r>
            <a:r>
              <a:rPr sz="2400">
                <a:solidFill>
                  <a:srgbClr val="1D1D1B"/>
                </a:solidFill>
                <a:latin typeface="JetBrains Mono"/>
              </a:rPr>
              <a:t> (arr, _f) = arr.into_inner();   </a:t>
            </a:r>
            <a:r>
              <a:rPr sz="2400">
                <a:solidFill>
                  <a:srgbClr val="6E6E6C"/>
                </a:solidFill>
                <a:latin typeface="JetBrains Mono"/>
              </a:rPr>
              <a:t>// zero copy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</a:t>
            </a:r>
            <a:r>
              <a:rPr sz="2400">
                <a:solidFill>
                  <a:srgbClr val="2F5FA8"/>
                </a:solidFill>
                <a:latin typeface="JetBrains Mono"/>
              </a:rPr>
              <a:t>let</a:t>
            </a:r>
            <a:r>
              <a:rPr sz="2400">
                <a:solidFill>
                  <a:srgbClr val="1D1D1B"/>
                </a:solidFill>
                <a:latin typeface="JetBrains Mono"/>
              </a:rPr>
              <a:t> col = arr.as_any()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    .downcast_ref::&lt;Float64Array&gt;()?;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</a:t>
            </a:r>
            <a:r>
              <a:rPr sz="2400">
                <a:solidFill>
                  <a:srgbClr val="2F5FA8"/>
                </a:solidFill>
                <a:latin typeface="JetBrains Mono"/>
              </a:rPr>
              <a:t>Ok</a:t>
            </a:r>
            <a:r>
              <a:rPr sz="2400">
                <a:solidFill>
                  <a:srgbClr val="1D1D1B"/>
                </a:solidFill>
                <a:latin typeface="JetBrains Mono"/>
              </a:rPr>
              <a:t>(aggregate::sum(col))             </a:t>
            </a:r>
            <a:r>
              <a:rPr sz="2400">
                <a:solidFill>
                  <a:srgbClr val="6E6E6C"/>
                </a:solidFill>
                <a:latin typeface="JetBrains Mono"/>
              </a:rPr>
              <a:t>// null-aware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3024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No .to_pylist(). No serde. No allocation.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The Python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import pyarrow.parquet as pq / import arrowbridge / "/>
          <p:cNvSpPr/>
          <p:nvPr/>
        </p:nvSpPr>
        <p:spPr>
          <a:xfrm>
            <a:off x="822960" y="1691640"/>
            <a:ext cx="10543032" cy="329184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3017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import</a:t>
            </a:r>
            <a:r>
              <a:rPr sz="2400">
                <a:solidFill>
                  <a:srgbClr val="1D1D1B"/>
                </a:solidFill>
                <a:latin typeface="JetBrains Mono"/>
              </a:rPr>
              <a:t> pyarrow.parquet </a:t>
            </a:r>
            <a:r>
              <a:rPr sz="2400">
                <a:solidFill>
                  <a:srgbClr val="2F5FA8"/>
                </a:solidFill>
                <a:latin typeface="JetBrains Mono"/>
              </a:rPr>
              <a:t>as</a:t>
            </a:r>
            <a:r>
              <a:rPr sz="2400">
                <a:solidFill>
                  <a:srgbClr val="1D1D1B"/>
                </a:solidFill>
                <a:latin typeface="JetBrains Mono"/>
              </a:rPr>
              <a:t> pq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import</a:t>
            </a:r>
            <a:r>
              <a:rPr sz="2400">
                <a:solidFill>
                  <a:srgbClr val="1D1D1B"/>
                </a:solidFill>
                <a:latin typeface="JetBrains Mono"/>
              </a:rPr>
              <a:t> arrowbridge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t = pq.read_table(</a:t>
            </a:r>
            <a:r>
              <a:rPr sz="2400">
                <a:solidFill>
                  <a:srgbClr val="00895E"/>
                </a:solidFill>
                <a:latin typeface="JetBrains Mono"/>
              </a:rPr>
              <a:t>"sensors.parquet"</a:t>
            </a:r>
            <a:r>
              <a:rPr sz="2400">
                <a:solidFill>
                  <a:srgbClr val="1D1D1B"/>
                </a:solidFill>
                <a:latin typeface="JetBrains Mono"/>
              </a:rPr>
              <a:t>)  </a:t>
            </a:r>
            <a:r>
              <a:rPr sz="2400">
                <a:solidFill>
                  <a:srgbClr val="6E6E6C"/>
                </a:solidFill>
                <a:latin typeface="JetBrains Mono"/>
              </a:rPr>
              <a:t># Arrow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col = t.column(</a:t>
            </a:r>
            <a:r>
              <a:rPr sz="2400">
                <a:solidFill>
                  <a:srgbClr val="00895E"/>
                </a:solidFill>
                <a:latin typeface="JetBrains Mono"/>
              </a:rPr>
              <a:t>"value"</a:t>
            </a:r>
            <a:r>
              <a:rPr sz="2400">
                <a:solidFill>
                  <a:srgbClr val="1D1D1B"/>
                </a:solidFill>
                <a:latin typeface="JetBrains Mono"/>
              </a:rPr>
              <a:t>).combine_chunks()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arrowbridge.sum_arrow(col)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That is the whole integration.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MEASURED · LOG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Same answer, four 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 descr="Column chart, logarithmic scale. Time to sum 5,000,000 float64 values: JSON 6036 milliseconds, Python list 461, NumPy 6.4, Arrow 3.5."/>
          <p:cNvGraphicFramePr>
            <a:graphicFrameLocks noGrp="1"/>
          </p:cNvGraphicFramePr>
          <p:nvPr/>
        </p:nvGraphicFramePr>
        <p:xfrm>
          <a:off x="822960" y="1554480"/>
          <a:ext cx="10543032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321808"/>
            <a:ext cx="274320" cy="164592"/>
          </a:xfrm>
          <a:prstGeom prst="rect">
            <a:avLst/>
          </a:prstGeom>
          <a:solidFill>
            <a:srgbClr val="F9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copies the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321808"/>
            <a:ext cx="274320" cy="164592"/>
          </a:xfrm>
          <a:prstGeom prst="rect">
            <a:avLst/>
          </a:prstGeom>
          <a:solidFill>
            <a:srgbClr val="2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shares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milliseconds · 5,000,000 float64 (40.0 MB) · median of 7 runs · Intel(R) Core(TM) Ultra 7 165U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Against the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9600" b="1">
                <a:solidFill>
                  <a:srgbClr val="2F5FA8"/>
                </a:solidFill>
                <a:latin typeface="Outfit"/>
              </a:rPr>
              <a:t>132×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faster than a Python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9600" b="1">
                <a:solidFill>
                  <a:srgbClr val="2F5FA8"/>
                </a:solidFill>
                <a:latin typeface="Outfit"/>
              </a:rPr>
              <a:t>1730×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56616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faster than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3.5 ms  vs  461 ms  vs  6036 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Peak memory on top of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 descr="Column chart of extra peak memory: JSON 287.9 megabytes, Python list 228.7, NumPy 0.1, Arrow 0.5."/>
          <p:cNvGraphicFramePr>
            <a:graphicFrameLocks noGrp="1"/>
          </p:cNvGraphicFramePr>
          <p:nvPr/>
        </p:nvGraphicFramePr>
        <p:xfrm>
          <a:off x="822960" y="1554480"/>
          <a:ext cx="10543032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321808"/>
            <a:ext cx="274320" cy="164592"/>
          </a:xfrm>
          <a:prstGeom prst="rect">
            <a:avLst/>
          </a:prstGeom>
          <a:solidFill>
            <a:srgbClr val="F9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copies the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321808"/>
            <a:ext cx="274320" cy="164592"/>
          </a:xfrm>
          <a:prstGeom prst="rect">
            <a:avLst/>
          </a:prstGeom>
          <a:solidFill>
            <a:srgbClr val="2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shares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megabytes of extra peak RSS beyond the 40.0 MB Arrow array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MEASURED · LOG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How it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 descr="Line chart, log scale, one decade per step from 10 thousand to 10 million rows. JSON and Python list rise steeply; NumPy and Arrow stay far lower and flatter."/>
          <p:cNvGraphicFramePr>
            <a:graphicFrameLocks noGrp="1"/>
          </p:cNvGraphicFramePr>
          <p:nvPr/>
        </p:nvGraphicFramePr>
        <p:xfrm>
          <a:off x="822960" y="1554480"/>
          <a:ext cx="10543032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623560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milliseconds (log) vs row count · flatter is better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THE HONEST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“NumPy was zero-copy — why Arrow?”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737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4A4A48"/>
                </a:solidFill>
                <a:latin typeface="Outfit"/>
              </a:rPr>
              <a:t>NumPy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37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2F5FA8"/>
                </a:solidFill>
                <a:latin typeface="Outfit"/>
              </a:rPr>
              <a:t>Arrow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10543032" cy="12700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Outfit"/>
              </a:rPr>
              <a:t>Numeric arrays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3774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006E4B"/>
                </a:solidFill>
                <a:latin typeface="Outfit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7744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006E4B"/>
                </a:solidFill>
                <a:latin typeface="Outfit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3580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Outfit"/>
              </a:rPr>
              <a:t>Null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0358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C41E17"/>
                </a:solidFill>
                <a:latin typeface="Outfit"/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3580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006E4B"/>
                </a:solidFill>
                <a:latin typeface="Outfit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9417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Outfit"/>
              </a:rPr>
              <a:t>Strings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694176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C41E17"/>
                </a:solidFill>
                <a:latin typeface="Outfit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94176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006E4B"/>
                </a:solidFill>
                <a:latin typeface="Outfit"/>
              </a:rP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5254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Outfit"/>
              </a:rPr>
              <a:t>Nested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35254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C41E17"/>
                </a:solidFill>
                <a:latin typeface="Outfit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52544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006E4B"/>
                </a:solidFill>
                <a:latin typeface="Outfit"/>
              </a:rP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109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1D1D1B"/>
                </a:solidFill>
                <a:latin typeface="Outfit"/>
              </a:rPr>
              <a:t>Whole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01091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C41E17"/>
                </a:solidFill>
                <a:latin typeface="Outfit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01091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006E4B"/>
                </a:solidFill>
                <a:latin typeface="Outfit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2F5FA8"/>
                </a:solidFill>
                <a:latin typeface="Outfit"/>
              </a:rPr>
              <a:t>Same speed. Far wider contract.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Strings: the buffer protocol gives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074920" cy="16002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11680"/>
            <a:ext cx="4562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C66A00"/>
                </a:solidFill>
                <a:latin typeface="Outfit"/>
              </a:rPr>
              <a:t>136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70048"/>
            <a:ext cx="4562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list[str] → Vec&lt;String&gt;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54096"/>
            <a:ext cx="4562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a String allocated per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828800"/>
            <a:ext cx="5074920" cy="16002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011680"/>
            <a:ext cx="4562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2F5FA8"/>
                </a:solidFill>
                <a:latin typeface="Outfit"/>
              </a:rPr>
              <a:t>12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670048"/>
            <a:ext cx="4562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Arrow StringArray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3054096"/>
            <a:ext cx="4562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borrowed &amp;str, no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5430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11× faster on 1,000,000 strings.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Arrow packs strings into one buffer plus offsets;
Rust borrows slices out of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Nulls come for 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&gt;&gt;&gt; a = pa.array([1.0, None, 3.0, None, 6.0]) / &gt;&gt;&gt; arrowbridge.sum_arrow(a) / 10.0"/>
          <p:cNvSpPr/>
          <p:nvPr/>
        </p:nvSpPr>
        <p:spPr>
          <a:xfrm>
            <a:off x="822960" y="1691640"/>
            <a:ext cx="10543032" cy="187452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a = pa.array([</a:t>
            </a:r>
            <a:r>
              <a:rPr sz="2400">
                <a:solidFill>
                  <a:srgbClr val="C66A00"/>
                </a:solidFill>
                <a:latin typeface="JetBrains Mono"/>
              </a:rPr>
              <a:t>1.0</a:t>
            </a:r>
            <a:r>
              <a:rPr sz="2400">
                <a:solidFill>
                  <a:srgbClr val="1D1D1B"/>
                </a:solidFill>
                <a:latin typeface="JetBrains Mono"/>
              </a:rPr>
              <a:t>, </a:t>
            </a:r>
            <a:r>
              <a:rPr sz="2400">
                <a:solidFill>
                  <a:srgbClr val="2F5FA8"/>
                </a:solidFill>
                <a:latin typeface="JetBrains Mono"/>
              </a:rPr>
              <a:t>None</a:t>
            </a:r>
            <a:r>
              <a:rPr sz="2400">
                <a:solidFill>
                  <a:srgbClr val="1D1D1B"/>
                </a:solidFill>
                <a:latin typeface="JetBrains Mono"/>
              </a:rPr>
              <a:t>, </a:t>
            </a:r>
            <a:r>
              <a:rPr sz="2400">
                <a:solidFill>
                  <a:srgbClr val="C66A00"/>
                </a:solidFill>
                <a:latin typeface="JetBrains Mono"/>
              </a:rPr>
              <a:t>3.0</a:t>
            </a:r>
            <a:r>
              <a:rPr sz="2400">
                <a:solidFill>
                  <a:srgbClr val="1D1D1B"/>
                </a:solidFill>
                <a:latin typeface="JetBrains Mono"/>
              </a:rPr>
              <a:t>, </a:t>
            </a:r>
            <a:r>
              <a:rPr sz="2400">
                <a:solidFill>
                  <a:srgbClr val="2F5FA8"/>
                </a:solidFill>
                <a:latin typeface="JetBrains Mono"/>
              </a:rPr>
              <a:t>None</a:t>
            </a:r>
            <a:r>
              <a:rPr sz="2400">
                <a:solidFill>
                  <a:srgbClr val="1D1D1B"/>
                </a:solidFill>
                <a:latin typeface="JetBrains Mono"/>
              </a:rPr>
              <a:t>, </a:t>
            </a:r>
            <a:r>
              <a:rPr sz="2400">
                <a:solidFill>
                  <a:srgbClr val="C66A00"/>
                </a:solidFill>
                <a:latin typeface="JetBrains Mono"/>
              </a:rPr>
              <a:t>6.0</a:t>
            </a:r>
            <a:r>
              <a:rPr sz="2400">
                <a:solidFill>
                  <a:srgbClr val="1D1D1B"/>
                </a:solidFill>
                <a:latin typeface="JetBrains Mono"/>
              </a:rPr>
              <a:t>])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arrowbridge.sum_arrow(a)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C66A00"/>
                </a:solidFill>
                <a:latin typeface="JetBrains Mono"/>
              </a:rPr>
              <a:t>10.0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The validity bitmap travels with the buffer.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Rust's kernels are null-aware. Nothing to translate.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03 · ARROW AS SHARED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Whole tables, too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&gt;&gt;&gt; batch = pa.record_batch(columns) / &gt;&gt;&gt; arrowbridge.batch_shape(batch) / (4, 2)"/>
          <p:cNvSpPr/>
          <p:nvPr/>
        </p:nvSpPr>
        <p:spPr>
          <a:xfrm>
            <a:off x="822960" y="1691640"/>
            <a:ext cx="10543032" cy="187452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batch = pa.record_batch(columns)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arrowbridge.batch_shape(batch)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(</a:t>
            </a:r>
            <a:r>
              <a:rPr sz="2400">
                <a:solidFill>
                  <a:srgbClr val="C66A00"/>
                </a:solidFill>
                <a:latin typeface="JetBrains Mono"/>
              </a:rPr>
              <a:t>4</a:t>
            </a:r>
            <a:r>
              <a:rPr sz="2400">
                <a:solidFill>
                  <a:srgbClr val="1D1D1B"/>
                </a:solidFill>
                <a:latin typeface="JetBrains Mono"/>
              </a:rPr>
              <a:t>, </a:t>
            </a:r>
            <a:r>
              <a:rPr sz="2400">
                <a:solidFill>
                  <a:srgbClr val="C66A00"/>
                </a:solidFill>
                <a:latin typeface="JetBrains Mono"/>
              </a:rPr>
              <a:t>2</a:t>
            </a:r>
            <a:r>
              <a:rPr sz="2400">
                <a:solidFill>
                  <a:srgbClr val="1D1D1B"/>
                </a:solidFill>
                <a:latin typeface="JetBrains Mono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A RecordBatch carries the schema.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Column names, types and nullability all survive.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9600" b="1">
                <a:solidFill>
                  <a:srgbClr val="CC6600"/>
                </a:solidFill>
                <a:latin typeface="Outfi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400" b="1">
                <a:solidFill>
                  <a:srgbClr val="1D1D1B"/>
                </a:solidFill>
                <a:latin typeface="Outfit"/>
              </a:rPr>
              <a:t>Pitfalls and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what I wish I'd known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04 ·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Pitfall 1: two arrow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error[E0308]: mismatched types /   expected `arrow_schema::DataType` /   found    `DataType`"/>
          <p:cNvSpPr/>
          <p:nvPr/>
        </p:nvSpPr>
        <p:spPr>
          <a:xfrm>
            <a:off x="822960" y="1691640"/>
            <a:ext cx="10543032" cy="234696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2072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error[E0308]: mismatched types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expected `arrow_schema::DataType`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found    `DataType`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note: multiple versions of crate `arrow_schema`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58640"/>
            <a:ext cx="1054303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Cargo links arrow 59 and 60 side by side.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Pin arrow to what pyo3-arrow depends on.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1">
                <a:solidFill>
                  <a:srgbClr val="CC6600"/>
                </a:solidFill>
                <a:latin typeface="Outfit"/>
              </a:rPr>
              <a:t>Find duplicates with:  cargo tree -d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04 ·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Pitfall 2: ChunkedArray is not an Array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&gt;&gt;&gt; table.column(&quot;value&quot;) / &lt;ChunkedArray ... 12 chunks&gt; / "/>
          <p:cNvSpPr/>
          <p:nvPr/>
        </p:nvSpPr>
        <p:spPr>
          <a:xfrm>
            <a:off x="822960" y="1691640"/>
            <a:ext cx="10543032" cy="28194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2545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table.column(</a:t>
            </a:r>
            <a:r>
              <a:rPr sz="2400">
                <a:solidFill>
                  <a:srgbClr val="00895E"/>
                </a:solidFill>
                <a:latin typeface="JetBrains Mono"/>
              </a:rPr>
              <a:t>"value"</a:t>
            </a:r>
            <a:r>
              <a:rPr sz="2400">
                <a:solidFill>
                  <a:srgbClr val="1D1D1B"/>
                </a:solidFill>
                <a:latin typeface="JetBrains Mono"/>
              </a:rPr>
              <a:t>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&lt;ChunkedArray ... </a:t>
            </a:r>
            <a:r>
              <a:rPr sz="2400">
                <a:solidFill>
                  <a:srgbClr val="C66A00"/>
                </a:solidFill>
                <a:latin typeface="JetBrains Mono"/>
              </a:rPr>
              <a:t>12</a:t>
            </a:r>
            <a:r>
              <a:rPr sz="2400">
                <a:solidFill>
                  <a:srgbClr val="1D1D1B"/>
                </a:solidFill>
                <a:latin typeface="JetBrains Mono"/>
              </a:rPr>
              <a:t> chunks&gt;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&gt;&gt;&gt; table.column(</a:t>
            </a:r>
            <a:r>
              <a:rPr sz="2400">
                <a:solidFill>
                  <a:srgbClr val="00895E"/>
                </a:solidFill>
                <a:latin typeface="JetBrains Mono"/>
              </a:rPr>
              <a:t>"value"</a:t>
            </a:r>
            <a:r>
              <a:rPr sz="2400">
                <a:solidFill>
                  <a:srgbClr val="1D1D1B"/>
                </a:solidFill>
                <a:latin typeface="JetBrains Mono"/>
              </a:rPr>
              <a:t>).combine_chunks()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6E6E6C"/>
                </a:solidFill>
                <a:latin typeface="JetBrains Mono"/>
              </a:rPr>
              <a:t># one buffer -- and this COPIES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3108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Budget for that copy, or accept a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RecordBatchReader and stream the chunks.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04 ·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Pitfall 3: ownership and the GIL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 descr="Code listing: #[pyfunction] / fn heavy(py: Python, arr: PyArray) -&gt; PyResult&lt;f64&gt; { /     let (arr, _) = arr.into_inner();"/>
          <p:cNvSpPr/>
          <p:nvPr/>
        </p:nvSpPr>
        <p:spPr>
          <a:xfrm>
            <a:off x="822960" y="1691640"/>
            <a:ext cx="10543032" cy="28194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9994392" cy="2545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#[pyfunction]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2F5FA8"/>
                </a:solidFill>
                <a:latin typeface="JetBrains Mono"/>
              </a:rPr>
              <a:t>fn</a:t>
            </a:r>
            <a:r>
              <a:rPr sz="2400">
                <a:solidFill>
                  <a:srgbClr val="1D1D1B"/>
                </a:solidFill>
                <a:latin typeface="JetBrains Mono"/>
              </a:rPr>
              <a:t> heavy(py: Python, arr: PyArray) -&gt; PyResult&lt;f64&gt; {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</a:t>
            </a:r>
            <a:r>
              <a:rPr sz="2400">
                <a:solidFill>
                  <a:srgbClr val="2F5FA8"/>
                </a:solidFill>
                <a:latin typeface="JetBrains Mono"/>
              </a:rPr>
              <a:t>let</a:t>
            </a:r>
            <a:r>
              <a:rPr sz="2400">
                <a:solidFill>
                  <a:srgbClr val="1D1D1B"/>
                </a:solidFill>
                <a:latin typeface="JetBrains Mono"/>
              </a:rPr>
              <a:t> (arr, _) = arr.into_inner();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    py.detach(|| expensive_scan(&amp;arr))   </a:t>
            </a:r>
            <a:r>
              <a:rPr sz="2400">
                <a:solidFill>
                  <a:srgbClr val="6E6E6C"/>
                </a:solidFill>
                <a:latin typeface="JetBrains Mono"/>
              </a:rPr>
              <a:t>// GIL off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400">
                <a:solidFill>
                  <a:srgbClr val="1D1D1B"/>
                </a:solidFill>
                <a:latin typeface="JetBrains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31080"/>
            <a:ext cx="105430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Never cache a raw pointer past the call.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Releasing the GIL is what makes Rust pay off.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04 ·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Pitfall 4: doing this when you shouldn't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74920" cy="16002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65960"/>
            <a:ext cx="4562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4A4A48"/>
                </a:solidFill>
                <a:latin typeface="Outfit"/>
              </a:rPr>
              <a:t>0.12 vs 0.05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24328"/>
            <a:ext cx="4562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at 10,000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08376"/>
            <a:ext cx="4562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not worth a rewrite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074920" cy="16002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65960"/>
            <a:ext cx="4562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2F5FA8"/>
                </a:solidFill>
                <a:latin typeface="Outfit"/>
              </a:rPr>
              <a:t>461 vs 3.5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624328"/>
            <a:ext cx="4562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at 5,000,000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3008376"/>
            <a:ext cx="4562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now it dominates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54303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Reach for this when the data is already columnar,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0">
                <a:solidFill>
                  <a:srgbClr val="4A4A48"/>
                </a:solidFill>
                <a:latin typeface="Outfit"/>
              </a:rPr>
              <a:t>you cross the boundary often, or memory is tight.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Otherwise a Python list is fine.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04 ·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How to tell it is really zero copy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9383"/>
            <a:ext cx="50800" cy="50292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Compare pointers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911095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assert the addresses match, in a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53512"/>
            <a:ext cx="50800" cy="50292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986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Watch peak RSS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935224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VmHWM in /proc — a copy shows as a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77640"/>
            <a:ext cx="50800" cy="50292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2277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cargo tree 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959352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duplicate crates cause baffling 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001768"/>
            <a:ext cx="50800" cy="50292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94690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Count the chunks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98348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more than one means combine_chunks copies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CC6600"/>
                </a:solidFill>
                <a:latin typeface="Outfit"/>
              </a:rPr>
              <a:t>04 ·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You are already using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08176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39111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2F5FA8"/>
                </a:solidFill>
                <a:latin typeface="Outfit"/>
              </a:rPr>
              <a:t>Polars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3288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Rust engine, Arrow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874519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39111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2F5FA8"/>
                </a:solidFill>
                <a:latin typeface="Outfit"/>
              </a:rPr>
              <a:t>DataFusion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53288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SQL engine in 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39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1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2F5FA8"/>
                </a:solidFill>
                <a:latin typeface="Outfit"/>
              </a:rPr>
              <a:t>delta-rs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5020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Delta Lake, Rust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3291839"/>
            <a:ext cx="5074920" cy="114300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456431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2F5FA8"/>
                </a:solidFill>
                <a:latin typeface="Outfit"/>
              </a:rPr>
              <a:t>pydantic-core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95020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PyO3 at the heart of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Arrow is the substrate. The C Data Interface is the plug.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355080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Zero-Copy Python + Rust  ·  PyCon ES 2026  ·  github.com/&lt;your-handle&gt;/pycones26-arrow-pyo3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355080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6E6E6C"/>
                </a:solidFill>
                <a:latin typeface="Outfit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600" b="1">
                <a:solidFill>
                  <a:srgbClr val="1D1D1B"/>
                </a:solidFill>
                <a:latin typeface="Outfit"/>
              </a:rPr>
              <a:t>Three things to take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15568"/>
            <a:ext cx="1188720" cy="508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The boundary is the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5059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Profile the crossing before you rewrite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918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Arrow is a layout, not a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82219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Agree on bytes and the copy disappears.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1">
                <a:solidFill>
                  <a:srgbClr val="CC6600"/>
                </a:solidFill>
                <a:latin typeface="Outfi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6634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800" b="1">
                <a:solidFill>
                  <a:srgbClr val="1D1D1B"/>
                </a:solidFill>
                <a:latin typeface="Outfit"/>
              </a:rPr>
              <a:t>Zero copy is testable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19379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0">
                <a:solidFill>
                  <a:srgbClr val="4A4A48"/>
                </a:solidFill>
                <a:latin typeface="Outfit"/>
              </a:rPr>
              <a:t>Assert pointer equality. Don't assume; measure.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54480"/>
            <a:ext cx="1737360" cy="635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5000" b="1">
                <a:solidFill>
                  <a:srgbClr val="1D1D1B"/>
                </a:solidFill>
                <a:latin typeface="Outfit"/>
              </a:rPr>
              <a:t>Gracias ·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200" b="0">
                <a:solidFill>
                  <a:srgbClr val="4A4A48"/>
                </a:solidFill>
                <a:latin typeface="Outfit"/>
              </a:rP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6675120" cy="2606040"/>
          </a:xfrm>
          <a:prstGeom prst="roundRect">
            <a:avLst>
              <a:gd name="adj" fmla="val 5000"/>
            </a:avLst>
          </a:prstGeom>
          <a:solidFill>
            <a:srgbClr val="F4F4F2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703320"/>
            <a:ext cx="5943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400" b="0">
                <a:solidFill>
                  <a:srgbClr val="6E6E6C"/>
                </a:solidFill>
                <a:latin typeface="Outfit"/>
              </a:rPr>
              <a:t>Slides, code and benchmarks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400" b="1">
                <a:solidFill>
                  <a:srgbClr val="CC6600"/>
                </a:solidFill>
                <a:latin typeface="Outfit"/>
              </a:rPr>
              <a:t>github.com/&lt;your-handle&gt;/pycones26-arrow-pyo3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400" b="0">
                <a:solidFill>
                  <a:srgbClr val="6E6E6C"/>
                </a:solidFill>
                <a:latin typeface="Outfit"/>
              </a:rPr>
              <a:t>LinkedIn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400" b="1">
                <a:solidFill>
                  <a:srgbClr val="CC6600"/>
                </a:solidFill>
                <a:latin typeface="Outfit"/>
              </a:rPr>
              <a:t>linkedin.com/in/allen-yesudasan</a:t>
            </a:r>
          </a:p>
        </p:txBody>
      </p:sp>
      <p:pic>
        <p:nvPicPr>
          <p:cNvPr id="7" name="Picture 6" descr="QR code linking to linkedin.com/in/allen-yesudas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657600"/>
            <a:ext cx="210312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58521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800" b="0">
                <a:solidFill>
                  <a:srgbClr val="6E6E6C"/>
                </a:solidFill>
                <a:latin typeface="Outfit"/>
              </a:rPr>
              <a:t>Scan for 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